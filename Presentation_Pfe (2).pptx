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2"/>
  </p:notesMasterIdLst>
  <p:sldIdLst>
    <p:sldId id="274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5" r:id="rId20"/>
    <p:sldId id="272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8FC"/>
    <a:srgbClr val="ECF1F8"/>
    <a:srgbClr val="002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0798" autoAdjust="0"/>
  </p:normalViewPr>
  <p:slideViewPr>
    <p:cSldViewPr snapToGrid="0" snapToObjects="1">
      <p:cViewPr varScale="1">
        <p:scale>
          <a:sx n="30" d="100"/>
          <a:sy n="30" d="100"/>
        </p:scale>
        <p:origin x="146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36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rPr lang="fr-FR" dirty="0" err="1"/>
              <a:t>jhgjgjgfgdfdg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5609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7D1FA-B647-0DE5-90B3-A84884F68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597A5-857E-52E7-F2E4-CA9B79A40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5FEB5-8341-A587-750E-3331D18B8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24FF1-3533-F02E-D4D0-5371E5FA7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01266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8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4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64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81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38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15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26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51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5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92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0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30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webp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5190738"/>
            <a:ext cx="16558260" cy="158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43"/>
              </a:lnSpc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 Bold" panose="020B0604020202020204" charset="0"/>
                <a:ea typeface="Codec Pro Bold"/>
                <a:cs typeface="Codec Pro Bold"/>
                <a:sym typeface="Codec Pro Bold"/>
              </a:rPr>
              <a:t> </a:t>
            </a:r>
            <a:r>
              <a:rPr lang="fr-FR" sz="5000" b="1" dirty="0">
                <a:solidFill>
                  <a:schemeClr val="bg1"/>
                </a:solidFill>
                <a:latin typeface="Codec Pro Bold" panose="020B0604020202020204" charset="0"/>
              </a:rPr>
              <a:t>Mise en place d’une plateforme de supervision avec accès Web et Mobile pour une infrastructure de Télécommunication </a:t>
            </a:r>
            <a:endParaRPr lang="en-GB" sz="5000" b="1" dirty="0">
              <a:solidFill>
                <a:schemeClr val="bg1"/>
              </a:solidFill>
              <a:latin typeface="Codec Pro Bold" panose="020B060402020202020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09725" y="3436488"/>
            <a:ext cx="1426855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3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6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MÉMOIRE DE FIN D'ÉTUDES</a:t>
            </a:r>
          </a:p>
          <a:p>
            <a:pPr marL="0" marR="0" lvl="0" indent="0" algn="ctr" defTabSz="914400" rtl="0" eaLnBrk="1" fontAlgn="auto" latinLnBrk="0" hangingPunct="1">
              <a:lnSpc>
                <a:spcPts val="33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6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Pour </a:t>
            </a:r>
            <a:r>
              <a:rPr kumimoji="0" lang="en-US" sz="3064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l'obtention</a:t>
            </a:r>
            <a:r>
              <a:rPr kumimoji="0" lang="en-US" sz="306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 du diplôme de </a:t>
            </a:r>
            <a:r>
              <a:rPr kumimoji="0" lang="en-US" sz="3064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Licence</a:t>
            </a:r>
            <a:r>
              <a:rPr kumimoji="0" lang="en-US" sz="306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kumimoji="0" lang="en-US" sz="3064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en</a:t>
            </a:r>
            <a:endParaRPr kumimoji="0" lang="en-US" sz="3064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dec Pro"/>
              <a:ea typeface="Codec Pro"/>
              <a:cs typeface="Codec Pro"/>
              <a:sym typeface="Codec Pro"/>
            </a:endParaRPr>
          </a:p>
          <a:p>
            <a:pPr marL="0" marR="0" lvl="0" indent="0" algn="ctr" defTabSz="914400" rtl="0" eaLnBrk="1" fontAlgn="auto" latinLnBrk="0" hangingPunct="1">
              <a:lnSpc>
                <a:spcPts val="33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64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Développement et Administration de </a:t>
            </a:r>
            <a:r>
              <a:rPr kumimoji="0" lang="en-US" sz="3064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l’Internet</a:t>
            </a:r>
            <a:r>
              <a:rPr kumimoji="0" lang="en-US" sz="3064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et de </a:t>
            </a:r>
            <a:r>
              <a:rPr kumimoji="0" lang="en-US" sz="3064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l’Intranet</a:t>
            </a:r>
            <a:r>
              <a:rPr kumimoji="0" lang="en-US" sz="3064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(DAII)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2870" y="7452396"/>
            <a:ext cx="7031695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3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64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Présenté</a:t>
            </a:r>
            <a:r>
              <a:rPr kumimoji="0" lang="en-US" sz="296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 Par</a:t>
            </a:r>
          </a:p>
          <a:p>
            <a:pPr marL="0" marR="0" lvl="0" indent="0" algn="ctr" defTabSz="914400" rtl="0" eaLnBrk="1" fontAlgn="auto" latinLnBrk="0" hangingPunct="1">
              <a:lnSpc>
                <a:spcPts val="323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64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Sidi Mohamed </a:t>
            </a:r>
            <a:r>
              <a:rPr lang="en-US" sz="2964" b="1" dirty="0">
                <a:solidFill>
                  <a:schemeClr val="bg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kumimoji="0" lang="en-US" sz="2964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emin</a:t>
            </a:r>
            <a:r>
              <a:rPr kumimoji="0" lang="en-US" sz="2964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964" b="1" dirty="0">
                <a:solidFill>
                  <a:schemeClr val="bg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kumimoji="0" lang="en-US" sz="2964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hmed</a:t>
            </a:r>
            <a:r>
              <a:rPr kumimoji="0" lang="en-US" sz="2964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964" b="1" dirty="0">
                <a:solidFill>
                  <a:schemeClr val="bg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</a:t>
            </a:r>
            <a:r>
              <a:rPr kumimoji="0" lang="en-US" sz="2964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enoun</a:t>
            </a:r>
            <a:endParaRPr kumimoji="0" lang="en-US" sz="2964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123436" y="7326291"/>
            <a:ext cx="6314182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3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64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Encadré</a:t>
            </a:r>
            <a:r>
              <a:rPr kumimoji="0" lang="en-US" sz="296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 Par</a:t>
            </a:r>
          </a:p>
          <a:p>
            <a:pPr marL="0" marR="0" lvl="0" indent="0" algn="ctr" defTabSz="914400" rtl="0" eaLnBrk="1" fontAlgn="auto" latinLnBrk="0" hangingPunct="1">
              <a:lnSpc>
                <a:spcPts val="323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64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Acad</a:t>
            </a:r>
            <a:r>
              <a:rPr kumimoji="0" lang="fr-FR" sz="2964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émique : </a:t>
            </a:r>
            <a:r>
              <a:rPr kumimoji="0" lang="en-US" sz="2964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Ahmed Mohamed </a:t>
            </a:r>
            <a:r>
              <a:rPr lang="en-US" sz="2964" b="1" dirty="0">
                <a:solidFill>
                  <a:schemeClr val="bg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kumimoji="0" lang="en-US" sz="2964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emin</a:t>
            </a:r>
            <a:r>
              <a:rPr kumimoji="0" lang="en-US" sz="2964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964" b="1" dirty="0">
                <a:solidFill>
                  <a:schemeClr val="bg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kumimoji="0" lang="en-US" sz="2964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amoune</a:t>
            </a:r>
            <a:endParaRPr kumimoji="0" lang="en-US" sz="2964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dec Pro Bold"/>
              <a:ea typeface="Codec Pro Bold"/>
              <a:cs typeface="Codec Pro Bold"/>
              <a:sym typeface="Codec Pro Bold"/>
            </a:endParaRPr>
          </a:p>
          <a:p>
            <a:pPr marL="0" marR="0" lvl="0" indent="0" algn="ctr" defTabSz="914400" rtl="0" eaLnBrk="1" fontAlgn="auto" latinLnBrk="0" hangingPunct="1">
              <a:lnSpc>
                <a:spcPts val="323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64" b="1" dirty="0" err="1">
                <a:solidFill>
                  <a:schemeClr val="bg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Professionnel</a:t>
            </a:r>
            <a:r>
              <a:rPr lang="en-US" sz="2964" b="1" dirty="0">
                <a:solidFill>
                  <a:schemeClr val="bg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: Mohamed </a:t>
            </a:r>
            <a:r>
              <a:rPr lang="en-US" sz="2964" b="1" dirty="0" err="1">
                <a:solidFill>
                  <a:schemeClr val="bg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Khlil</a:t>
            </a:r>
            <a:endParaRPr kumimoji="0" lang="en-US" sz="2964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270178" y="9520194"/>
            <a:ext cx="5747643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3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64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Année Universitaire 2025 – 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FC7648-8D98-54CD-8729-FC51F6457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886" y="554922"/>
            <a:ext cx="11660227" cy="2600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698" y="5213239"/>
            <a:ext cx="16639369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43"/>
              </a:lnSpc>
            </a:pPr>
            <a:r>
              <a:rPr lang="en-US" sz="5000" b="1" dirty="0">
                <a:latin typeface="Codec Pro Bold" panose="020B0604020202020204" charset="0"/>
                <a:ea typeface="Codec Pro Bold"/>
                <a:cs typeface="Codec Pro Bold"/>
                <a:sym typeface="Codec Pro Bold"/>
              </a:rPr>
              <a:t> </a:t>
            </a:r>
            <a:r>
              <a:rPr lang="fr-FR" sz="5000" b="1" dirty="0">
                <a:latin typeface="Codec Pro Bold" panose="020B0604020202020204" charset="0"/>
              </a:rPr>
              <a:t>Mise en place d’une plateforme de supervision avec accès Web et Mobile pour une infrastructure de </a:t>
            </a:r>
            <a:r>
              <a:rPr lang="fr-FR" sz="5000" b="1" dirty="0" err="1">
                <a:latin typeface="Codec Pro Bold" panose="020B0604020202020204" charset="0"/>
              </a:rPr>
              <a:t>Télecommunication</a:t>
            </a:r>
            <a:r>
              <a:rPr lang="fr-FR" sz="5000" b="1" dirty="0">
                <a:latin typeface="Codec Pro Bold" panose="020B0604020202020204" charset="0"/>
              </a:rPr>
              <a:t> </a:t>
            </a:r>
            <a:endParaRPr lang="en-GB" sz="5000" b="1" dirty="0">
              <a:latin typeface="Codec Pro Bold" panose="020B060402020202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6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819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169068" y="3505059"/>
            <a:ext cx="13949863" cy="1325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3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6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MÉMOIRE DE FIN D'ÉTUDES</a:t>
            </a:r>
          </a:p>
          <a:p>
            <a:pPr marL="0" marR="0" lvl="0" indent="0" algn="ctr" defTabSz="914400" rtl="0" eaLnBrk="1" fontAlgn="auto" latinLnBrk="0" hangingPunct="1">
              <a:lnSpc>
                <a:spcPts val="33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6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Pour </a:t>
            </a:r>
            <a:r>
              <a:rPr kumimoji="0" lang="en-US" sz="3064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l'obtention</a:t>
            </a:r>
            <a:r>
              <a:rPr kumimoji="0" lang="en-US" sz="306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 du diplôme de </a:t>
            </a:r>
            <a:r>
              <a:rPr kumimoji="0" lang="en-US" sz="3064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Licence</a:t>
            </a:r>
            <a:r>
              <a:rPr kumimoji="0" lang="en-US" sz="306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kumimoji="0" lang="en-US" sz="3064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en</a:t>
            </a:r>
            <a:endParaRPr kumimoji="0" lang="en-US" sz="3064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dec Pro"/>
              <a:ea typeface="Codec Pro"/>
              <a:cs typeface="Codec Pro"/>
              <a:sym typeface="Codec Pro"/>
            </a:endParaRPr>
          </a:p>
          <a:p>
            <a:pPr marL="0" marR="0" lvl="0" indent="0" algn="ctr" defTabSz="914400" rtl="0" eaLnBrk="1" fontAlgn="auto" latinLnBrk="0" hangingPunct="1">
              <a:lnSpc>
                <a:spcPts val="33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64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Développement et Administration de </a:t>
            </a:r>
            <a:r>
              <a:rPr kumimoji="0" lang="en-US" sz="3064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l’Internet</a:t>
            </a:r>
            <a:r>
              <a:rPr kumimoji="0" lang="en-US" sz="3064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et de </a:t>
            </a:r>
            <a:r>
              <a:rPr kumimoji="0" lang="en-US" sz="3064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l’Intranet</a:t>
            </a:r>
            <a:r>
              <a:rPr kumimoji="0" lang="en-US" sz="3064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(DAII)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378681"/>
            <a:ext cx="7031695" cy="879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3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64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Présenté Par</a:t>
            </a:r>
          </a:p>
          <a:p>
            <a:pPr marL="0" marR="0" lvl="0" indent="0" algn="ctr" defTabSz="914400" rtl="0" eaLnBrk="1" fontAlgn="auto" latinLnBrk="0" hangingPunct="1">
              <a:lnSpc>
                <a:spcPts val="323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64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Sidi Mohamed lemin ahmed henoun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23436" y="8378681"/>
            <a:ext cx="6314182" cy="879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3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64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Encadré</a:t>
            </a:r>
            <a:r>
              <a:rPr kumimoji="0" lang="en-US" sz="296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 Par</a:t>
            </a:r>
          </a:p>
          <a:p>
            <a:pPr marL="0" marR="0" lvl="0" indent="0" algn="ctr" defTabSz="914400" rtl="0" eaLnBrk="1" fontAlgn="auto" latinLnBrk="0" hangingPunct="1">
              <a:lnSpc>
                <a:spcPts val="323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64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Ahmed Mohamed </a:t>
            </a:r>
            <a:r>
              <a:rPr kumimoji="0" lang="en-US" sz="2964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lemin</a:t>
            </a:r>
            <a:r>
              <a:rPr kumimoji="0" lang="en-US" sz="2964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kumimoji="0" lang="en-US" sz="2964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mamoune</a:t>
            </a:r>
            <a:endParaRPr kumimoji="0" lang="en-US" sz="2964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270178" y="9520194"/>
            <a:ext cx="5747643" cy="470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3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64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Année Universitaire 2025 –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F76B55-39FE-2A76-59D6-21C7A8887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4" y="-2037974"/>
            <a:ext cx="11906250" cy="7943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1219150"/>
            <a:ext cx="16639032" cy="744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0" b="1" kern="0" spc="-52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66950" y="3274119"/>
            <a:ext cx="541512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problématique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6800" y="4668539"/>
            <a:ext cx="952500" cy="1047750"/>
          </a:xfrm>
          <a:prstGeom prst="roundRect">
            <a:avLst>
              <a:gd name="adj" fmla="val 16000"/>
            </a:avLst>
          </a:prstGeom>
          <a:solidFill>
            <a:srgbClr val="0029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28700" y="4668539"/>
            <a:ext cx="10287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E6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66950" y="4870945"/>
            <a:ext cx="183187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66800" y="6265465"/>
            <a:ext cx="952500" cy="1047750"/>
          </a:xfrm>
          <a:prstGeom prst="roundRect">
            <a:avLst>
              <a:gd name="adj" fmla="val 16000"/>
            </a:avLst>
          </a:prstGeom>
          <a:solidFill>
            <a:srgbClr val="0029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28700" y="6265465"/>
            <a:ext cx="10287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E6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2266950" y="6467871"/>
            <a:ext cx="367494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</a:t>
            </a:r>
            <a:r>
              <a:rPr lang="en-US" sz="3000" dirty="0" err="1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proposée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66800" y="7862391"/>
            <a:ext cx="952500" cy="1047750"/>
          </a:xfrm>
          <a:prstGeom prst="roundRect">
            <a:avLst>
              <a:gd name="adj" fmla="val 16000"/>
            </a:avLst>
          </a:prstGeom>
          <a:solidFill>
            <a:srgbClr val="0029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028700" y="7862391"/>
            <a:ext cx="10287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E6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2266950" y="8064797"/>
            <a:ext cx="23018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448800" y="3071712"/>
            <a:ext cx="952500" cy="1047750"/>
          </a:xfrm>
          <a:prstGeom prst="roundRect">
            <a:avLst>
              <a:gd name="adj" fmla="val 16000"/>
            </a:avLst>
          </a:prstGeom>
          <a:solidFill>
            <a:srgbClr val="0029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410700" y="3071712"/>
            <a:ext cx="10287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E6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10648950" y="3274119"/>
            <a:ext cx="264767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48800" y="4668539"/>
            <a:ext cx="952500" cy="1047750"/>
          </a:xfrm>
          <a:prstGeom prst="roundRect">
            <a:avLst>
              <a:gd name="adj" fmla="val 16000"/>
            </a:avLst>
          </a:prstGeom>
          <a:solidFill>
            <a:srgbClr val="0029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410700" y="4668539"/>
            <a:ext cx="10287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E6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500" dirty="0"/>
          </a:p>
        </p:txBody>
      </p:sp>
      <p:sp>
        <p:nvSpPr>
          <p:cNvPr id="19" name="Text 17"/>
          <p:cNvSpPr/>
          <p:nvPr/>
        </p:nvSpPr>
        <p:spPr>
          <a:xfrm>
            <a:off x="10648950" y="4870945"/>
            <a:ext cx="5833922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 err="1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Réalisation</a:t>
            </a: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</a:t>
            </a:r>
            <a:r>
              <a:rPr lang="en-US" sz="3000" dirty="0" err="1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448800" y="6265465"/>
            <a:ext cx="952500" cy="1047750"/>
          </a:xfrm>
          <a:prstGeom prst="roundRect">
            <a:avLst>
              <a:gd name="adj" fmla="val 16000"/>
            </a:avLst>
          </a:prstGeom>
          <a:solidFill>
            <a:srgbClr val="0029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410700" y="6265465"/>
            <a:ext cx="10287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E6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500" dirty="0"/>
          </a:p>
        </p:txBody>
      </p:sp>
      <p:sp>
        <p:nvSpPr>
          <p:cNvPr id="22" name="Text 20"/>
          <p:cNvSpPr/>
          <p:nvPr/>
        </p:nvSpPr>
        <p:spPr>
          <a:xfrm>
            <a:off x="10648950" y="6467871"/>
            <a:ext cx="2241252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C5319359-1CCC-3574-7454-A67651968CE4}"/>
              </a:ext>
            </a:extLst>
          </p:cNvPr>
          <p:cNvSpPr/>
          <p:nvPr/>
        </p:nvSpPr>
        <p:spPr>
          <a:xfrm>
            <a:off x="1028700" y="3207741"/>
            <a:ext cx="952500" cy="1047750"/>
          </a:xfrm>
          <a:prstGeom prst="roundRect">
            <a:avLst>
              <a:gd name="adj" fmla="val 16000"/>
            </a:avLst>
          </a:prstGeom>
          <a:solidFill>
            <a:srgbClr val="0029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65B70A67-80A4-F36E-1E4C-190A53E08784}"/>
              </a:ext>
            </a:extLst>
          </p:cNvPr>
          <p:cNvSpPr/>
          <p:nvPr/>
        </p:nvSpPr>
        <p:spPr>
          <a:xfrm>
            <a:off x="990600" y="3207741"/>
            <a:ext cx="10287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E6F6FA"/>
                </a:solidFill>
                <a:latin typeface="Arial" pitchFamily="34" charset="0"/>
                <a:cs typeface="Arial" pitchFamily="34" charset="-120"/>
              </a:rPr>
              <a:t>1</a:t>
            </a:r>
            <a:endParaRPr lang="en-US" sz="4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1184870"/>
            <a:ext cx="1663903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0" b="1" kern="0" spc="-43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29640" y="3492499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428750" y="3214370"/>
            <a:ext cx="14878050" cy="977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opérateurs télécoms doivent garantir la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 </a:t>
            </a: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la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continuité </a:t>
            </a: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leurs services.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29640" y="5177302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28750" y="4898310"/>
            <a:ext cx="15104110" cy="977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supervision réseau permet de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surveiller</a:t>
            </a: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détecter les anomalies </a:t>
            </a: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réagir.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29640" y="619960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28750" y="5945600"/>
            <a:ext cx="13788791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réalisé chez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Mauritel</a:t>
            </a: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opérateur télécom en Mauritanie.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6800" y="1062534"/>
            <a:ext cx="1663903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0" b="1" kern="0" spc="-43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066800" y="3320058"/>
            <a:ext cx="12115800" cy="3461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rgbClr val="1A2733"/>
                </a:solidFill>
                <a:ea typeface="Arial" pitchFamily="34" charset="-122"/>
                <a:cs typeface="Arial" pitchFamily="34" charset="-120"/>
              </a:rPr>
              <a:t>La supervision est traditionnellement liée au </a:t>
            </a:r>
            <a:r>
              <a:rPr lang="en-US" sz="3000" b="1" dirty="0">
                <a:solidFill>
                  <a:srgbClr val="1A2733"/>
                </a:solidFill>
                <a:ea typeface="Arial" pitchFamily="34" charset="-122"/>
                <a:cs typeface="Arial" pitchFamily="34" charset="-120"/>
              </a:rPr>
              <a:t>poste de travail .</a:t>
            </a:r>
          </a:p>
          <a:p>
            <a:pPr>
              <a:lnSpc>
                <a:spcPct val="150000"/>
              </a:lnSpc>
            </a:pPr>
            <a:r>
              <a:rPr lang="en-GB" sz="3000" dirty="0"/>
              <a:t>Mais </a:t>
            </a:r>
            <a:r>
              <a:rPr lang="en-GB" sz="3000" dirty="0" err="1"/>
              <a:t>une</a:t>
            </a:r>
            <a:r>
              <a:rPr lang="en-GB" sz="3000" dirty="0"/>
              <a:t> infrastructure ne </a:t>
            </a:r>
            <a:r>
              <a:rPr lang="en-GB" sz="3000" dirty="0" err="1"/>
              <a:t>s'arrête</a:t>
            </a:r>
            <a:r>
              <a:rPr lang="en-GB" sz="3000" dirty="0"/>
              <a:t> jamais :</a:t>
            </a:r>
            <a:br>
              <a:rPr lang="en-GB" sz="3000" dirty="0"/>
            </a:br>
            <a:r>
              <a:rPr lang="en-GB" sz="3000" dirty="0"/>
              <a:t>un incident </a:t>
            </a:r>
            <a:r>
              <a:rPr lang="en-GB" sz="3000" dirty="0" err="1"/>
              <a:t>peut</a:t>
            </a:r>
            <a:r>
              <a:rPr lang="en-GB" sz="3000" dirty="0"/>
              <a:t> </a:t>
            </a:r>
            <a:r>
              <a:rPr lang="en-GB" sz="3000" dirty="0" err="1"/>
              <a:t>survenir</a:t>
            </a:r>
            <a:r>
              <a:rPr lang="en-GB" sz="3000" dirty="0"/>
              <a:t> la nuit, le week-end, </a:t>
            </a:r>
            <a:r>
              <a:rPr lang="en-GB" sz="3000" dirty="0" err="1"/>
              <a:t>ou</a:t>
            </a:r>
            <a:r>
              <a:rPr lang="en-GB" sz="3000" dirty="0"/>
              <a:t> pendant un </a:t>
            </a:r>
            <a:r>
              <a:rPr lang="en-GB" sz="3000" dirty="0" err="1"/>
              <a:t>déplacement</a:t>
            </a:r>
            <a:r>
              <a:rPr lang="en-GB" sz="3000" dirty="0"/>
              <a:t>.</a:t>
            </a:r>
            <a:endParaRPr lang="en-US" sz="3000" dirty="0">
              <a:solidFill>
                <a:srgbClr val="1A2733"/>
              </a:solidFill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3000" b="1" dirty="0" err="1">
                <a:solidFill>
                  <a:srgbClr val="05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C’est</a:t>
            </a:r>
            <a:r>
              <a:rPr lang="en-US" sz="3000" b="1" dirty="0">
                <a:solidFill>
                  <a:srgbClr val="05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</a:t>
            </a:r>
            <a:r>
              <a:rPr lang="fr-FR" sz="3000" b="1" dirty="0">
                <a:solidFill>
                  <a:srgbClr val="05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que</a:t>
            </a:r>
            <a:r>
              <a:rPr lang="en-US" sz="3000" b="1" dirty="0">
                <a:solidFill>
                  <a:srgbClr val="05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05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l'opérateur</a:t>
            </a:r>
            <a:r>
              <a:rPr lang="en-US" sz="3000" b="1" dirty="0">
                <a:solidFill>
                  <a:srgbClr val="05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le </a:t>
            </a:r>
            <a:r>
              <a:rPr lang="en-US" sz="3000" b="1" dirty="0" err="1">
                <a:solidFill>
                  <a:srgbClr val="05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</a:t>
            </a:r>
            <a:r>
              <a:rPr lang="en-US" sz="3000" b="1" dirty="0">
                <a:solidFill>
                  <a:srgbClr val="05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3000" b="1" dirty="0" err="1">
                <a:solidFill>
                  <a:srgbClr val="05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visibilité</a:t>
            </a:r>
            <a:r>
              <a:rPr lang="en-US" sz="3000" b="1" dirty="0">
                <a:solidFill>
                  <a:srgbClr val="05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  <a:p>
            <a:pPr marL="0" indent="0" algn="l">
              <a:lnSpc>
                <a:spcPct val="150000"/>
              </a:lnSpc>
              <a:buNone/>
            </a:pPr>
            <a:endParaRPr lang="en-US" sz="2700" dirty="0">
              <a:solidFill>
                <a:srgbClr val="1A27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66800" y="6393458"/>
            <a:ext cx="15971520" cy="1995785"/>
          </a:xfrm>
          <a:prstGeom prst="roundRect">
            <a:avLst>
              <a:gd name="adj" fmla="val 8591"/>
            </a:avLst>
          </a:prstGeom>
          <a:solidFill>
            <a:srgbClr val="0029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2209800" y="6604000"/>
            <a:ext cx="14218920" cy="1502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just">
              <a:lnSpc>
                <a:spcPct val="135000"/>
              </a:lnSpc>
            </a:pPr>
            <a:r>
              <a:rPr lang="fr-FR" sz="25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 assurer une supervision en temps réel de l’état et des performances d’une infrastructure réseau, tout en permettant à l’opérateur de rester informé et réactif aux incidents, même en situation de mobilité ??</a:t>
            </a:r>
            <a:endParaRPr lang="en-GB" sz="25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5000"/>
              </a:lnSpc>
            </a:pPr>
            <a:endParaRPr lang="en-US" sz="2325" dirty="0"/>
          </a:p>
        </p:txBody>
      </p:sp>
      <p:pic>
        <p:nvPicPr>
          <p:cNvPr id="10" name="Graphic 9" descr="Question Mark with solid fill">
            <a:extLst>
              <a:ext uri="{FF2B5EF4-FFF2-40B4-BE49-F238E27FC236}">
                <a16:creationId xmlns:a16="http://schemas.microsoft.com/office/drawing/2014/main" id="{A1C9512B-3DA6-5C97-7B2B-C559F3EA3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420" y="6934150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6800" y="1168202"/>
            <a:ext cx="1663903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0" b="1" kern="0" spc="-43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28525" y="326310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6F6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1985774" y="3161505"/>
            <a:ext cx="8285985" cy="577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Superviser les équipements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temps réel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128525" y="412035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6F6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1985775" y="4088606"/>
            <a:ext cx="8285984" cy="37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Offrir un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web complet </a:t>
            </a: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l'analyse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1128525" y="5021883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6F6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7"/>
          <p:cNvSpPr/>
          <p:nvPr/>
        </p:nvSpPr>
        <p:spPr>
          <a:xfrm>
            <a:off x="1985774" y="4945856"/>
            <a:ext cx="8895585" cy="506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Offrir un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mobile </a:t>
            </a: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notifications</a:t>
            </a:r>
            <a:endParaRPr lang="en-US" sz="3000" dirty="0"/>
          </a:p>
        </p:txBody>
      </p:sp>
      <p:sp>
        <p:nvSpPr>
          <p:cNvPr id="13" name="Shape 8"/>
          <p:cNvSpPr/>
          <p:nvPr/>
        </p:nvSpPr>
        <p:spPr>
          <a:xfrm>
            <a:off x="1128525" y="643129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6F6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9"/>
          <p:cNvSpPr/>
          <p:nvPr/>
        </p:nvSpPr>
        <p:spPr>
          <a:xfrm>
            <a:off x="1985775" y="6311106"/>
            <a:ext cx="8529825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Garder une solution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à déployer</a:t>
            </a:r>
            <a:endParaRPr lang="en-US" sz="3000" dirty="0"/>
          </a:p>
        </p:txBody>
      </p:sp>
      <p:sp>
        <p:nvSpPr>
          <p:cNvPr id="19" name="Text 12"/>
          <p:cNvSpPr/>
          <p:nvPr/>
        </p:nvSpPr>
        <p:spPr>
          <a:xfrm>
            <a:off x="1128525" y="7332707"/>
            <a:ext cx="10060107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00" b="1" dirty="0">
                <a:solidFill>
                  <a:srgbClr val="05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 </a:t>
            </a:r>
            <a:r>
              <a:rPr lang="en-US" sz="2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complémentaires : détection et réponse automatiques</a:t>
            </a:r>
            <a:endParaRPr lang="en-US" sz="25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F2CFDC-8225-25BC-259B-3170B9209333}"/>
              </a:ext>
            </a:extLst>
          </p:cNvPr>
          <p:cNvSpPr txBox="1"/>
          <p:nvPr/>
        </p:nvSpPr>
        <p:spPr>
          <a:xfrm>
            <a:off x="1985775" y="5731262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b="1" dirty="0" err="1">
                <a:solidFill>
                  <a:srgbClr val="0596AE"/>
                </a:solidFill>
                <a:latin typeface="Arial" pitchFamily="34" charset="0"/>
                <a:cs typeface="Arial" pitchFamily="34" charset="-120"/>
              </a:rPr>
              <a:t>L’operateur</a:t>
            </a:r>
            <a:r>
              <a:rPr lang="en-US" sz="2500" b="1" dirty="0">
                <a:solidFill>
                  <a:srgbClr val="0596A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500" b="1" dirty="0" err="1">
                <a:solidFill>
                  <a:srgbClr val="0596AE"/>
                </a:solidFill>
                <a:latin typeface="Arial" pitchFamily="34" charset="0"/>
                <a:cs typeface="Arial" pitchFamily="34" charset="-120"/>
              </a:rPr>
              <a:t>reste</a:t>
            </a:r>
            <a:r>
              <a:rPr lang="en-US" sz="2500" b="1" dirty="0">
                <a:solidFill>
                  <a:srgbClr val="0596AE"/>
                </a:solidFill>
                <a:latin typeface="Arial" pitchFamily="34" charset="0"/>
                <a:cs typeface="Arial" pitchFamily="34" charset="-120"/>
              </a:rPr>
              <a:t> r</a:t>
            </a:r>
            <a:r>
              <a:rPr lang="fr-FR" sz="2500" b="1" dirty="0" err="1">
                <a:solidFill>
                  <a:srgbClr val="0596AE"/>
                </a:solidFill>
                <a:latin typeface="Arial" pitchFamily="34" charset="0"/>
                <a:cs typeface="Arial" pitchFamily="34" charset="-120"/>
              </a:rPr>
              <a:t>éactif</a:t>
            </a:r>
            <a:r>
              <a:rPr lang="fr-FR" sz="2500" b="1" dirty="0">
                <a:solidFill>
                  <a:srgbClr val="0596AE"/>
                </a:solidFill>
                <a:latin typeface="Arial" pitchFamily="34" charset="0"/>
                <a:cs typeface="Arial" pitchFamily="34" charset="-120"/>
              </a:rPr>
              <a:t> partout</a:t>
            </a:r>
            <a:endParaRPr lang="en-GB" sz="2500" dirty="0"/>
          </a:p>
        </p:txBody>
      </p:sp>
      <p:pic>
        <p:nvPicPr>
          <p:cNvPr id="24" name="Graphic 23" descr="Checkmark with solid fill">
            <a:extLst>
              <a:ext uri="{FF2B5EF4-FFF2-40B4-BE49-F238E27FC236}">
                <a16:creationId xmlns:a16="http://schemas.microsoft.com/office/drawing/2014/main" id="{E7D9C9A9-5C14-5052-CC22-FB5FB73EF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3940" y="3377556"/>
            <a:ext cx="318770" cy="409847"/>
          </a:xfrm>
          <a:prstGeom prst="rect">
            <a:avLst/>
          </a:prstGeom>
        </p:spPr>
      </p:pic>
      <p:pic>
        <p:nvPicPr>
          <p:cNvPr id="25" name="Graphic 24" descr="Checkmark with solid fill">
            <a:extLst>
              <a:ext uri="{FF2B5EF4-FFF2-40B4-BE49-F238E27FC236}">
                <a16:creationId xmlns:a16="http://schemas.microsoft.com/office/drawing/2014/main" id="{F96B0CFB-8C84-268C-67E4-77A1B6A530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0735" y="4222071"/>
            <a:ext cx="331975" cy="426825"/>
          </a:xfrm>
          <a:prstGeom prst="rect">
            <a:avLst/>
          </a:prstGeom>
        </p:spPr>
      </p:pic>
      <p:pic>
        <p:nvPicPr>
          <p:cNvPr id="26" name="Graphic 25" descr="Checkmark with solid fill">
            <a:extLst>
              <a:ext uri="{FF2B5EF4-FFF2-40B4-BE49-F238E27FC236}">
                <a16:creationId xmlns:a16="http://schemas.microsoft.com/office/drawing/2014/main" id="{B40E9D94-A8CB-0CB2-281B-1EECCF1481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0734" y="5102943"/>
            <a:ext cx="331975" cy="426825"/>
          </a:xfrm>
          <a:prstGeom prst="rect">
            <a:avLst/>
          </a:prstGeom>
        </p:spPr>
      </p:pic>
      <p:pic>
        <p:nvPicPr>
          <p:cNvPr id="27" name="Graphic 26" descr="Checkmark with solid fill">
            <a:extLst>
              <a:ext uri="{FF2B5EF4-FFF2-40B4-BE49-F238E27FC236}">
                <a16:creationId xmlns:a16="http://schemas.microsoft.com/office/drawing/2014/main" id="{62424E6F-3FFD-F4A9-3AE2-DF1A4CE4B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0733" y="6522682"/>
            <a:ext cx="331975" cy="426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6800" y="1057831"/>
            <a:ext cx="1663903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0" b="1" kern="0" spc="-43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proposée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066800" y="3020219"/>
            <a:ext cx="1277112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plateforme de supervision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unifiée</a:t>
            </a:r>
            <a:r>
              <a:rPr lang="en-US" sz="3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accessible en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</a:t>
            </a:r>
            <a:r>
              <a:rPr lang="en-US" sz="3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en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r>
              <a:rPr lang="en-US" sz="3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38325" y="5332809"/>
            <a:ext cx="4095750" cy="2844800"/>
          </a:xfrm>
          <a:prstGeom prst="roundRect">
            <a:avLst>
              <a:gd name="adj" fmla="val 6696"/>
            </a:avLst>
          </a:prstGeom>
          <a:solidFill>
            <a:srgbClr val="FFFFFF"/>
          </a:solidFill>
          <a:ln w="6350">
            <a:solidFill>
              <a:srgbClr val="DDE6EE"/>
            </a:solidFill>
            <a:prstDash val="solid"/>
          </a:ln>
          <a:effectLst>
            <a:outerShdw blurRad="381000" dist="171450" dir="5400000" algn="bl" rotWithShape="0">
              <a:srgbClr val="1E3A5F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486150" y="5796360"/>
            <a:ext cx="800100" cy="800100"/>
          </a:xfrm>
          <a:prstGeom prst="roundRect">
            <a:avLst>
              <a:gd name="adj" fmla="val 26190"/>
            </a:avLst>
          </a:prstGeom>
          <a:solidFill>
            <a:srgbClr val="E6F6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310350" y="6806010"/>
            <a:ext cx="315160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de métriques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310350" y="7364809"/>
            <a:ext cx="3151601" cy="558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toutes les </a:t>
            </a:r>
            <a:r>
              <a:rPr lang="en-US" sz="2000" b="1" dirty="0">
                <a:solidFill>
                  <a:srgbClr val="05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7096125" y="5342334"/>
            <a:ext cx="4095750" cy="2825750"/>
          </a:xfrm>
          <a:prstGeom prst="roundRect">
            <a:avLst>
              <a:gd name="adj" fmla="val 6742"/>
            </a:avLst>
          </a:prstGeom>
          <a:solidFill>
            <a:srgbClr val="00295A"/>
          </a:solidFill>
          <a:ln/>
          <a:effectLst>
            <a:outerShdw blurRad="438150" dist="209550" dir="5400000" algn="bl" rotWithShape="0">
              <a:srgbClr val="1E3A5F">
                <a:alpha val="7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8743950" y="5799534"/>
            <a:ext cx="800100" cy="800100"/>
          </a:xfrm>
          <a:prstGeom prst="roundRect">
            <a:avLst>
              <a:gd name="adj" fmla="val 26190"/>
            </a:avLst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9"/>
          <p:cNvSpPr/>
          <p:nvPr/>
        </p:nvSpPr>
        <p:spPr>
          <a:xfrm>
            <a:off x="7528292" y="6809184"/>
            <a:ext cx="323141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Spring Boot</a:t>
            </a:r>
            <a:endParaRPr lang="en-US" sz="2250" dirty="0"/>
          </a:p>
        </p:txBody>
      </p:sp>
      <p:sp>
        <p:nvSpPr>
          <p:cNvPr id="15" name="Text 10"/>
          <p:cNvSpPr/>
          <p:nvPr/>
        </p:nvSpPr>
        <p:spPr>
          <a:xfrm>
            <a:off x="7528293" y="7367985"/>
            <a:ext cx="323141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&amp; stockage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12353925" y="5161359"/>
            <a:ext cx="4095750" cy="3006725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6350">
            <a:solidFill>
              <a:srgbClr val="DDE6EE"/>
            </a:solidFill>
            <a:prstDash val="solid"/>
          </a:ln>
          <a:effectLst>
            <a:outerShdw blurRad="381000" dist="171450" dir="5400000" algn="bl" rotWithShape="0">
              <a:srgbClr val="1E3A5F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2"/>
          <p:cNvSpPr/>
          <p:nvPr/>
        </p:nvSpPr>
        <p:spPr>
          <a:xfrm>
            <a:off x="14001750" y="5624910"/>
            <a:ext cx="800100" cy="800100"/>
          </a:xfrm>
          <a:prstGeom prst="roundRect">
            <a:avLst>
              <a:gd name="adj" fmla="val 26190"/>
            </a:avLst>
          </a:prstGeom>
          <a:solidFill>
            <a:srgbClr val="E6F6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3"/>
          <p:cNvSpPr/>
          <p:nvPr/>
        </p:nvSpPr>
        <p:spPr>
          <a:xfrm>
            <a:off x="12652217" y="6634560"/>
            <a:ext cx="3499168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Web + Mobile</a:t>
            </a:r>
            <a:endParaRPr lang="en-US" sz="2250" dirty="0"/>
          </a:p>
        </p:txBody>
      </p:sp>
      <p:sp>
        <p:nvSpPr>
          <p:cNvPr id="21" name="Text 14"/>
          <p:cNvSpPr/>
          <p:nvPr/>
        </p:nvSpPr>
        <p:spPr>
          <a:xfrm>
            <a:off x="12907926" y="7371160"/>
            <a:ext cx="3069724" cy="552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 &amp; alertes</a:t>
            </a:r>
            <a:endParaRPr lang="en-US" sz="2000" dirty="0"/>
          </a:p>
        </p:txBody>
      </p:sp>
      <p:pic>
        <p:nvPicPr>
          <p:cNvPr id="23" name="Graphic 22" descr="Web design outline">
            <a:extLst>
              <a:ext uri="{FF2B5EF4-FFF2-40B4-BE49-F238E27FC236}">
                <a16:creationId xmlns:a16="http://schemas.microsoft.com/office/drawing/2014/main" id="{1E5FCD96-0055-16BC-2232-ED1CAA86A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2350" y="5872560"/>
            <a:ext cx="647700" cy="647700"/>
          </a:xfrm>
          <a:prstGeom prst="rect">
            <a:avLst/>
          </a:prstGeom>
        </p:spPr>
      </p:pic>
      <p:pic>
        <p:nvPicPr>
          <p:cNvPr id="25" name="Graphic 24" descr="Server outline">
            <a:extLst>
              <a:ext uri="{FF2B5EF4-FFF2-40B4-BE49-F238E27FC236}">
                <a16:creationId xmlns:a16="http://schemas.microsoft.com/office/drawing/2014/main" id="{AA7FC822-A7A4-7798-0334-362E950DD2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7450" y="5859860"/>
            <a:ext cx="711200" cy="711200"/>
          </a:xfrm>
          <a:prstGeom prst="rect">
            <a:avLst/>
          </a:prstGeom>
        </p:spPr>
      </p:pic>
      <p:pic>
        <p:nvPicPr>
          <p:cNvPr id="27" name="Graphic 26" descr="Monitor with solid fill">
            <a:extLst>
              <a:ext uri="{FF2B5EF4-FFF2-40B4-BE49-F238E27FC236}">
                <a16:creationId xmlns:a16="http://schemas.microsoft.com/office/drawing/2014/main" id="{F054F2E5-112A-CAD7-613F-806EA20732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65250" y="5702035"/>
            <a:ext cx="694267" cy="694267"/>
          </a:xfrm>
          <a:prstGeom prst="rect">
            <a:avLst/>
          </a:prstGeom>
        </p:spPr>
      </p:pic>
      <p:pic>
        <p:nvPicPr>
          <p:cNvPr id="29" name="Graphic 28" descr="Arrow Right with solid fill">
            <a:extLst>
              <a:ext uri="{FF2B5EF4-FFF2-40B4-BE49-F238E27FC236}">
                <a16:creationId xmlns:a16="http://schemas.microsoft.com/office/drawing/2014/main" id="{1D240AC3-FCE8-2F78-2CCF-2CB7996333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90167" y="6348810"/>
            <a:ext cx="546100" cy="914400"/>
          </a:xfrm>
          <a:prstGeom prst="rect">
            <a:avLst/>
          </a:prstGeom>
        </p:spPr>
      </p:pic>
      <p:pic>
        <p:nvPicPr>
          <p:cNvPr id="30" name="Graphic 29" descr="Arrow Right with solid fill">
            <a:extLst>
              <a:ext uri="{FF2B5EF4-FFF2-40B4-BE49-F238E27FC236}">
                <a16:creationId xmlns:a16="http://schemas.microsoft.com/office/drawing/2014/main" id="{6AA38248-1789-E07D-2D3D-D3BC86A122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6650" y="6382545"/>
            <a:ext cx="5461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6800" y="450155"/>
            <a:ext cx="1663903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0" b="1" kern="0" spc="-43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</a:t>
            </a:r>
            <a:r>
              <a:rPr lang="en-US" sz="6000" b="1" kern="0" spc="-43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</a:t>
            </a:r>
            <a:endParaRPr lang="en-US" sz="6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2ED613-3434-2438-3D71-AB679EA2B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1447800"/>
            <a:ext cx="8275320" cy="853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6800" y="450155"/>
            <a:ext cx="1663903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0" b="1" kern="0" spc="-43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</a:t>
            </a:r>
            <a:r>
              <a:rPr lang="en-US" sz="6000" b="1" kern="0" spc="-43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</a:t>
            </a:r>
            <a:r>
              <a:rPr lang="fr-FR" sz="6000" b="1" kern="0" spc="-43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éseau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2064344" y="9513751"/>
            <a:ext cx="405952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conteneurs Docker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6123866" y="9486896"/>
            <a:ext cx="23011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dirty="0">
                <a:solidFill>
                  <a:srgbClr val="DD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353978" y="9486892"/>
            <a:ext cx="689154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zones </a:t>
            </a:r>
            <a:r>
              <a:rPr lang="en-US" sz="2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(WAN, DMZ, LAN, Management)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11391985" y="9486896"/>
            <a:ext cx="23011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dirty="0">
                <a:solidFill>
                  <a:srgbClr val="DD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12544651" y="9513752"/>
            <a:ext cx="5474117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Construite avec Containerlab</a:t>
            </a:r>
            <a:endParaRPr lang="en-US" sz="25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1277F7-CDD2-9395-C2AB-C8798EFA8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20" y="1411846"/>
            <a:ext cx="8747760" cy="81019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6800" y="619780"/>
            <a:ext cx="1663903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0" b="1" kern="0" spc="-43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fonctionne la supervision ?</a:t>
            </a:r>
            <a:endParaRPr lang="en-US" sz="6000" dirty="0"/>
          </a:p>
        </p:txBody>
      </p:sp>
      <p:sp>
        <p:nvSpPr>
          <p:cNvPr id="7" name="Shape 4"/>
          <p:cNvSpPr/>
          <p:nvPr/>
        </p:nvSpPr>
        <p:spPr>
          <a:xfrm>
            <a:off x="11003261" y="398288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6F6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65161" y="398288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746211" y="3982880"/>
            <a:ext cx="4594497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script collecte les métriques </a:t>
            </a:r>
            <a:r>
              <a:rPr lang="en-US" sz="21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 s)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1003261" y="478298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6F6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0965161" y="478298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1746211" y="4782980"/>
            <a:ext cx="5191726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les envoie au backend qui les </a:t>
            </a:r>
            <a:r>
              <a:rPr lang="en-US" sz="21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11003261" y="558308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6F6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0965161" y="558308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1746211" y="5583080"/>
            <a:ext cx="4617082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Affichage en </a:t>
            </a:r>
            <a:r>
              <a:rPr lang="en-US" sz="21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réel </a:t>
            </a:r>
            <a:r>
              <a:rPr lang="en-US" sz="2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(WebSocket)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1003261" y="638318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11746211" y="6383180"/>
            <a:ext cx="3708157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 immédiate </a:t>
            </a:r>
            <a:r>
              <a:rPr lang="en-US" sz="2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problème</a:t>
            </a:r>
            <a:endParaRPr lang="en-US" sz="2100" dirty="0"/>
          </a:p>
        </p:txBody>
      </p:sp>
      <p:pic>
        <p:nvPicPr>
          <p:cNvPr id="20" name="Graphic 19" descr="Warning outline">
            <a:extLst>
              <a:ext uri="{FF2B5EF4-FFF2-40B4-BE49-F238E27FC236}">
                <a16:creationId xmlns:a16="http://schemas.microsoft.com/office/drawing/2014/main" id="{10CA31B5-C7F9-C163-84FE-79B610F40E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60411" y="6429615"/>
            <a:ext cx="457200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33A370C-5DE7-8738-FE2D-79584DD00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606" y="1834040"/>
            <a:ext cx="7203234" cy="7534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28081" y="513258"/>
            <a:ext cx="1663903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0" b="1" kern="0" spc="-43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utilisées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09586" y="3141839"/>
            <a:ext cx="265871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198120" y="3530113"/>
            <a:ext cx="341376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Containerlab, Docker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9423520" y="3141839"/>
            <a:ext cx="265871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9423520" y="3530113"/>
            <a:ext cx="26587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46104" y="8404858"/>
            <a:ext cx="265871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ML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-190500" y="8831578"/>
            <a:ext cx="39319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Flask</a:t>
            </a:r>
            <a:r>
              <a:rPr lang="fr-FR" sz="2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XGBoost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09586" y="5996107"/>
            <a:ext cx="265871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509585" y="6313607"/>
            <a:ext cx="26587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Nginx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9423520" y="5995703"/>
            <a:ext cx="265871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423519" y="6437995"/>
            <a:ext cx="26587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9347597" y="8476845"/>
            <a:ext cx="298575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9511117" y="8852419"/>
            <a:ext cx="26587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2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7D75319-A514-994A-CCB5-2C2DB7AB7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885" y="2402751"/>
            <a:ext cx="2658713" cy="22195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D90EBFB-5846-116B-8ADA-9AD701093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184" y="2302893"/>
            <a:ext cx="2409005" cy="240900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C0B4EFA-1042-1EBE-CF8F-DB32D2AC9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4564" y="2355105"/>
            <a:ext cx="4061460" cy="21322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B31B8FA-D6DC-DE1F-8661-142AADF21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851" y="5505887"/>
            <a:ext cx="3078480" cy="153924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5A3930A-D0A4-0A9B-8D12-86BDE37A18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00052" y="5592894"/>
            <a:ext cx="4002308" cy="114231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B143CAC-CE40-29B2-628B-BE957059E7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8851" y="7705485"/>
            <a:ext cx="3090147" cy="206825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E15E70D-9A91-4779-D218-9765B52D24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2184" y="8536078"/>
            <a:ext cx="2409005" cy="82997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3B5FF2B-F9F8-FBA7-FEF9-5F6870560F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71848" y="7705485"/>
            <a:ext cx="3090147" cy="201552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007A591-5C17-C5B7-9523-9C820053F3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2184" y="5592894"/>
            <a:ext cx="2363327" cy="1773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6800" y="695941"/>
            <a:ext cx="1663903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0" b="1" kern="0" spc="-43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 web</a:t>
            </a:r>
            <a:endParaRPr lang="en-US" sz="6000" dirty="0"/>
          </a:p>
        </p:txBody>
      </p:sp>
      <p:sp>
        <p:nvSpPr>
          <p:cNvPr id="7" name="Shape 4"/>
          <p:cNvSpPr/>
          <p:nvPr/>
        </p:nvSpPr>
        <p:spPr>
          <a:xfrm>
            <a:off x="12644406" y="4621847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120577" y="4338085"/>
            <a:ext cx="4811287" cy="80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réel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12638877" y="5630234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3120577" y="5326382"/>
            <a:ext cx="4301149" cy="533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par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équipement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12638877" y="6547181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3120577" y="6222999"/>
            <a:ext cx="4811287" cy="695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</a:t>
            </a:r>
            <a:endParaRPr lang="en-US" sz="3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0559E8E-AF3E-473B-7E1D-251C5A5BC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99" y="1992954"/>
            <a:ext cx="10689887" cy="7318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6800" y="608410"/>
            <a:ext cx="1663903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0" b="1" kern="0" spc="-43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</a:t>
            </a:r>
            <a:endParaRPr lang="en-US" sz="6000" dirty="0"/>
          </a:p>
        </p:txBody>
      </p:sp>
      <p:sp>
        <p:nvSpPr>
          <p:cNvPr id="7" name="Shape 4"/>
          <p:cNvSpPr/>
          <p:nvPr/>
        </p:nvSpPr>
        <p:spPr>
          <a:xfrm>
            <a:off x="1594922" y="4242222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038251" y="3949661"/>
            <a:ext cx="6762849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allégée </a:t>
            </a: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tableau de bord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1588671" y="5269733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038251" y="4897199"/>
            <a:ext cx="5887554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Pensée pour la </a:t>
            </a: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mobilité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1594922" y="6148745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2038250" y="5856050"/>
            <a:ext cx="6508849" cy="1205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push </a:t>
            </a: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instantanées</a:t>
            </a:r>
            <a:endParaRPr lang="en-US" sz="3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10E2BA-5136-48FC-7926-ABDF3E2E3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545" y="2033191"/>
            <a:ext cx="3312414" cy="7360920"/>
          </a:xfrm>
          <a:prstGeom prst="round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673934-648C-38C8-709B-FC3D44659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065" y="1341120"/>
            <a:ext cx="8785373" cy="8337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29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465908" y="4287441"/>
            <a:ext cx="9356185" cy="1007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7500" b="1" kern="0" spc="2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7500" dirty="0"/>
          </a:p>
        </p:txBody>
      </p:sp>
      <p:sp>
        <p:nvSpPr>
          <p:cNvPr id="8" name="Text 5"/>
          <p:cNvSpPr/>
          <p:nvPr/>
        </p:nvSpPr>
        <p:spPr>
          <a:xfrm>
            <a:off x="3257550" y="7101384"/>
            <a:ext cx="117729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endParaRPr lang="en-US" sz="2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6800" y="862906"/>
            <a:ext cx="1663903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0" b="1" kern="0" spc="-43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complémentaires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066800" y="2757090"/>
            <a:ext cx="7848600" cy="6238081"/>
          </a:xfrm>
          <a:prstGeom prst="roundRect">
            <a:avLst>
              <a:gd name="adj" fmla="val 3359"/>
            </a:avLst>
          </a:prstGeom>
          <a:solidFill>
            <a:srgbClr val="FFFFFF"/>
          </a:solidFill>
          <a:ln w="6350">
            <a:solidFill>
              <a:srgbClr val="DDE6EE"/>
            </a:solidFill>
            <a:prstDash val="solid"/>
          </a:ln>
          <a:effectLst>
            <a:outerShdw blurRad="381000" dist="171450" dir="5400000" algn="bl" rotWithShape="0">
              <a:srgbClr val="1E3A5F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2087880" y="3544490"/>
            <a:ext cx="589788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 machine learning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930400" y="4528740"/>
            <a:ext cx="5397500" cy="7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généré par nous-mêmes</a:t>
            </a:r>
            <a:endParaRPr lang="en-US" sz="2500" dirty="0"/>
          </a:p>
        </p:txBody>
      </p:sp>
      <p:sp>
        <p:nvSpPr>
          <p:cNvPr id="11" name="Text 6"/>
          <p:cNvSpPr/>
          <p:nvPr/>
        </p:nvSpPr>
        <p:spPr>
          <a:xfrm>
            <a:off x="1930400" y="5105003"/>
            <a:ext cx="5897880" cy="694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 les attaques via leur </a:t>
            </a:r>
            <a:r>
              <a:rPr lang="en-US" sz="25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</a:t>
            </a:r>
            <a:endParaRPr lang="en-US" sz="2500" dirty="0"/>
          </a:p>
        </p:txBody>
      </p:sp>
      <p:sp>
        <p:nvSpPr>
          <p:cNvPr id="13" name="Text 7"/>
          <p:cNvSpPr/>
          <p:nvPr/>
        </p:nvSpPr>
        <p:spPr>
          <a:xfrm>
            <a:off x="1930400" y="5687615"/>
            <a:ext cx="5549900" cy="979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 l'</a:t>
            </a:r>
            <a:r>
              <a:rPr lang="en-US" sz="25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de l'attaquant</a:t>
            </a:r>
            <a:endParaRPr lang="en-US" sz="2500" dirty="0"/>
          </a:p>
        </p:txBody>
      </p:sp>
      <p:sp>
        <p:nvSpPr>
          <p:cNvPr id="14" name="Shape 8"/>
          <p:cNvSpPr/>
          <p:nvPr/>
        </p:nvSpPr>
        <p:spPr>
          <a:xfrm>
            <a:off x="9372600" y="2757090"/>
            <a:ext cx="7848600" cy="6238081"/>
          </a:xfrm>
          <a:prstGeom prst="roundRect">
            <a:avLst>
              <a:gd name="adj" fmla="val 3359"/>
            </a:avLst>
          </a:prstGeom>
          <a:solidFill>
            <a:srgbClr val="00295A"/>
          </a:solidFill>
          <a:ln/>
          <a:effectLst>
            <a:outerShdw blurRad="438150" dist="209550" dir="5400000" algn="bl" rotWithShape="0">
              <a:srgbClr val="1E3A5F">
                <a:alpha val="7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0"/>
          <p:cNvSpPr/>
          <p:nvPr/>
        </p:nvSpPr>
        <p:spPr>
          <a:xfrm>
            <a:off x="10347960" y="3538140"/>
            <a:ext cx="633984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 réponse automatisée</a:t>
            </a:r>
            <a:endParaRPr lang="en-US" sz="3000" dirty="0"/>
          </a:p>
        </p:txBody>
      </p:sp>
      <p:sp>
        <p:nvSpPr>
          <p:cNvPr id="19" name="Text 11"/>
          <p:cNvSpPr/>
          <p:nvPr/>
        </p:nvSpPr>
        <p:spPr>
          <a:xfrm>
            <a:off x="10229849" y="4522390"/>
            <a:ext cx="5950217" cy="6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0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 définis par l'administrateur</a:t>
            </a:r>
            <a:endParaRPr lang="en-US" sz="2500" dirty="0"/>
          </a:p>
        </p:txBody>
      </p:sp>
      <p:sp>
        <p:nvSpPr>
          <p:cNvPr id="21" name="Text 12"/>
          <p:cNvSpPr/>
          <p:nvPr/>
        </p:nvSpPr>
        <p:spPr>
          <a:xfrm>
            <a:off x="10229850" y="5098652"/>
            <a:ext cx="7092553" cy="742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0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Blocage automatique de l'attaquant </a:t>
            </a: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iptables</a:t>
            </a:r>
            <a:endParaRPr lang="en-US" sz="25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E55EADA1-6A97-90A3-134A-7DFF695AE882}"/>
              </a:ext>
            </a:extLst>
          </p:cNvPr>
          <p:cNvSpPr/>
          <p:nvPr/>
        </p:nvSpPr>
        <p:spPr>
          <a:xfrm>
            <a:off x="1350010" y="4652099"/>
            <a:ext cx="464185" cy="423864"/>
          </a:xfrm>
          <a:prstGeom prst="roundRect">
            <a:avLst>
              <a:gd name="adj" fmla="val 25000"/>
            </a:avLst>
          </a:prstGeom>
          <a:solidFill>
            <a:srgbClr val="E6F6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Graphic 22" descr="Checkmark with solid fill">
            <a:extLst>
              <a:ext uri="{FF2B5EF4-FFF2-40B4-BE49-F238E27FC236}">
                <a16:creationId xmlns:a16="http://schemas.microsoft.com/office/drawing/2014/main" id="{ECE6F489-7B34-A8D3-C63B-F281F7326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9070" y="4697781"/>
            <a:ext cx="242730" cy="312081"/>
          </a:xfrm>
          <a:prstGeom prst="rect">
            <a:avLst/>
          </a:prstGeom>
        </p:spPr>
      </p:pic>
      <p:sp>
        <p:nvSpPr>
          <p:cNvPr id="24" name="Shape 2">
            <a:extLst>
              <a:ext uri="{FF2B5EF4-FFF2-40B4-BE49-F238E27FC236}">
                <a16:creationId xmlns:a16="http://schemas.microsoft.com/office/drawing/2014/main" id="{CCB19FDA-6F24-C263-6B01-901C223D8EDF}"/>
              </a:ext>
            </a:extLst>
          </p:cNvPr>
          <p:cNvSpPr/>
          <p:nvPr/>
        </p:nvSpPr>
        <p:spPr>
          <a:xfrm>
            <a:off x="1350010" y="5238848"/>
            <a:ext cx="464185" cy="423864"/>
          </a:xfrm>
          <a:prstGeom prst="roundRect">
            <a:avLst>
              <a:gd name="adj" fmla="val 25000"/>
            </a:avLst>
          </a:prstGeom>
          <a:solidFill>
            <a:srgbClr val="E6F6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Graphic 24" descr="Checkmark with solid fill">
            <a:extLst>
              <a:ext uri="{FF2B5EF4-FFF2-40B4-BE49-F238E27FC236}">
                <a16:creationId xmlns:a16="http://schemas.microsoft.com/office/drawing/2014/main" id="{C1514FA0-51C4-12AB-2B2A-3B515206E9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9070" y="5284530"/>
            <a:ext cx="242730" cy="312081"/>
          </a:xfrm>
          <a:prstGeom prst="rect">
            <a:avLst/>
          </a:prstGeom>
        </p:spPr>
      </p:pic>
      <p:sp>
        <p:nvSpPr>
          <p:cNvPr id="26" name="Shape 2">
            <a:extLst>
              <a:ext uri="{FF2B5EF4-FFF2-40B4-BE49-F238E27FC236}">
                <a16:creationId xmlns:a16="http://schemas.microsoft.com/office/drawing/2014/main" id="{EDA25A1D-162A-C0CC-4F69-D63039A1450D}"/>
              </a:ext>
            </a:extLst>
          </p:cNvPr>
          <p:cNvSpPr/>
          <p:nvPr/>
        </p:nvSpPr>
        <p:spPr>
          <a:xfrm>
            <a:off x="1350010" y="5795265"/>
            <a:ext cx="464185" cy="423864"/>
          </a:xfrm>
          <a:prstGeom prst="roundRect">
            <a:avLst>
              <a:gd name="adj" fmla="val 25000"/>
            </a:avLst>
          </a:prstGeom>
          <a:solidFill>
            <a:srgbClr val="E6F6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7" name="Graphic 26" descr="Checkmark with solid fill">
            <a:extLst>
              <a:ext uri="{FF2B5EF4-FFF2-40B4-BE49-F238E27FC236}">
                <a16:creationId xmlns:a16="http://schemas.microsoft.com/office/drawing/2014/main" id="{2482CD39-DC94-8911-833E-20F2BFF677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9070" y="5840947"/>
            <a:ext cx="242730" cy="312081"/>
          </a:xfrm>
          <a:prstGeom prst="rect">
            <a:avLst/>
          </a:prstGeom>
        </p:spPr>
      </p:pic>
      <p:sp>
        <p:nvSpPr>
          <p:cNvPr id="28" name="Shape 2">
            <a:extLst>
              <a:ext uri="{FF2B5EF4-FFF2-40B4-BE49-F238E27FC236}">
                <a16:creationId xmlns:a16="http://schemas.microsoft.com/office/drawing/2014/main" id="{74E652CB-D06F-6DFA-922B-158CE9934D02}"/>
              </a:ext>
            </a:extLst>
          </p:cNvPr>
          <p:cNvSpPr/>
          <p:nvPr/>
        </p:nvSpPr>
        <p:spPr>
          <a:xfrm>
            <a:off x="9645412" y="4632459"/>
            <a:ext cx="464185" cy="423864"/>
          </a:xfrm>
          <a:prstGeom prst="roundRect">
            <a:avLst>
              <a:gd name="adj" fmla="val 25000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Graphic 28" descr="Checkmark with solid fill">
            <a:extLst>
              <a:ext uri="{FF2B5EF4-FFF2-40B4-BE49-F238E27FC236}">
                <a16:creationId xmlns:a16="http://schemas.microsoft.com/office/drawing/2014/main" id="{D5C4F586-3DAF-834A-ACCB-466255C954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46615" y="4678141"/>
            <a:ext cx="242730" cy="312081"/>
          </a:xfrm>
          <a:prstGeom prst="rect">
            <a:avLst/>
          </a:prstGeom>
        </p:spPr>
      </p:pic>
      <p:sp>
        <p:nvSpPr>
          <p:cNvPr id="30" name="Shape 2">
            <a:extLst>
              <a:ext uri="{FF2B5EF4-FFF2-40B4-BE49-F238E27FC236}">
                <a16:creationId xmlns:a16="http://schemas.microsoft.com/office/drawing/2014/main" id="{474FD797-1A45-6752-184B-314E30C2834C}"/>
              </a:ext>
            </a:extLst>
          </p:cNvPr>
          <p:cNvSpPr/>
          <p:nvPr/>
        </p:nvSpPr>
        <p:spPr>
          <a:xfrm>
            <a:off x="9645412" y="5235136"/>
            <a:ext cx="464185" cy="423864"/>
          </a:xfrm>
          <a:prstGeom prst="roundRect">
            <a:avLst>
              <a:gd name="adj" fmla="val 25000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Graphic 30" descr="Checkmark with solid fill">
            <a:extLst>
              <a:ext uri="{FF2B5EF4-FFF2-40B4-BE49-F238E27FC236}">
                <a16:creationId xmlns:a16="http://schemas.microsoft.com/office/drawing/2014/main" id="{CEECF6EA-EA67-ACD2-9F41-DB636BA1FA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6615" y="5280818"/>
            <a:ext cx="242730" cy="3120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29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2298700" y="4287441"/>
            <a:ext cx="13373099" cy="1007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7500" b="1" kern="0" spc="2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</a:t>
            </a:r>
            <a:r>
              <a:rPr lang="en-US" sz="7500" b="1" kern="0" spc="28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(suite)</a:t>
            </a:r>
            <a:endParaRPr lang="en-US" sz="7500" dirty="0"/>
          </a:p>
        </p:txBody>
      </p:sp>
      <p:sp>
        <p:nvSpPr>
          <p:cNvPr id="8" name="Text 5"/>
          <p:cNvSpPr/>
          <p:nvPr/>
        </p:nvSpPr>
        <p:spPr>
          <a:xfrm>
            <a:off x="3257550" y="7101384"/>
            <a:ext cx="117729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endParaRPr lang="en-US" sz="2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6800" y="1169591"/>
            <a:ext cx="1663903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0" b="1" kern="0" spc="-43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et Perspectives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066800" y="3642518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466849" y="3317398"/>
            <a:ext cx="16821151" cy="623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fr-FR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•Une plateforme de </a:t>
            </a:r>
            <a:r>
              <a:rPr lang="fr-FR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r>
              <a:rPr lang="fr-FR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temps réel des équipements, accessible en web et mobile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66800" y="4422299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466850" y="4130199"/>
            <a:ext cx="133604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fr-FR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des attaques par </a:t>
            </a:r>
            <a:r>
              <a:rPr lang="fr-FR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ML </a:t>
            </a:r>
            <a:r>
              <a:rPr lang="fr-FR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réponse automatique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66801" y="6230301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466850" y="5905181"/>
            <a:ext cx="11058303" cy="325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fr-FR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Enrichir le modèle avec de </a:t>
            </a:r>
            <a:r>
              <a:rPr lang="fr-FR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nouveaux</a:t>
            </a:r>
            <a:r>
              <a:rPr lang="fr-FR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scénarios d’attaque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66801" y="7029923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466851" y="6717980"/>
            <a:ext cx="11058302" cy="514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fr-FR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</a:t>
            </a:r>
            <a:r>
              <a:rPr lang="fr-FR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</a:t>
            </a:r>
            <a:endParaRPr lang="en-US" sz="3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BB91F-DB49-8AB4-C504-A50DA3024347}"/>
              </a:ext>
            </a:extLst>
          </p:cNvPr>
          <p:cNvSpPr txBox="1"/>
          <p:nvPr/>
        </p:nvSpPr>
        <p:spPr>
          <a:xfrm>
            <a:off x="1066801" y="258328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1" i="0" u="none" strike="noStrike" kern="0" cap="none" spc="-43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GB" sz="4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0B8BEE-9A9F-8CC3-9CD9-25327F0B82D7}"/>
              </a:ext>
            </a:extLst>
          </p:cNvPr>
          <p:cNvSpPr txBox="1"/>
          <p:nvPr/>
        </p:nvSpPr>
        <p:spPr>
          <a:xfrm>
            <a:off x="1066800" y="5085029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1" i="0" u="none" strike="noStrike" kern="0" cap="none" spc="-43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Perspectives</a:t>
            </a:r>
            <a:endParaRPr lang="en-GB" sz="4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E8BDAD-EBDA-02E2-3C54-3812D7200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6D5BD75-969E-7141-8740-67E0462D7559}"/>
              </a:ext>
            </a:extLst>
          </p:cNvPr>
          <p:cNvSpPr/>
          <p:nvPr/>
        </p:nvSpPr>
        <p:spPr>
          <a:xfrm>
            <a:off x="1066800" y="1169591"/>
            <a:ext cx="16639032" cy="623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lvl="0">
              <a:lnSpc>
                <a:spcPct val="106000"/>
              </a:lnSpc>
            </a:pPr>
            <a:r>
              <a:rPr lang="en-US" sz="6000" b="1" kern="0" spc="-43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 Numérique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2D08DC3-43C7-8A8C-7315-88F7FACA7399}"/>
              </a:ext>
            </a:extLst>
          </p:cNvPr>
          <p:cNvSpPr/>
          <p:nvPr/>
        </p:nvSpPr>
        <p:spPr>
          <a:xfrm>
            <a:off x="1066800" y="3642518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CDEB49-5BFB-7076-79C4-E2588F79B16D}"/>
              </a:ext>
            </a:extLst>
          </p:cNvPr>
          <p:cNvSpPr/>
          <p:nvPr/>
        </p:nvSpPr>
        <p:spPr>
          <a:xfrm>
            <a:off x="1466850" y="3337629"/>
            <a:ext cx="13461532" cy="873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lvl="0">
              <a:lnSpc>
                <a:spcPct val="150000"/>
              </a:lnSpc>
            </a:pPr>
            <a:r>
              <a:rPr lang="en-GB" sz="3000" b="1" dirty="0">
                <a:solidFill>
                  <a:prstClr val="black"/>
                </a:solidFill>
              </a:rPr>
              <a:t>LinkedIn</a:t>
            </a:r>
            <a:r>
              <a:rPr lang="en-GB" sz="3000" dirty="0">
                <a:solidFill>
                  <a:prstClr val="black"/>
                </a:solidFill>
              </a:rPr>
              <a:t> : linkedin.com/in/sidi-hasnat-350a43396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FA0D5CD-3CBA-9342-05EA-52956F9DC180}"/>
              </a:ext>
            </a:extLst>
          </p:cNvPr>
          <p:cNvSpPr/>
          <p:nvPr/>
        </p:nvSpPr>
        <p:spPr>
          <a:xfrm>
            <a:off x="1066800" y="4422299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21BD61D-FCF6-FA2E-809F-7DF3A46DB1FB}"/>
              </a:ext>
            </a:extLst>
          </p:cNvPr>
          <p:cNvSpPr/>
          <p:nvPr/>
        </p:nvSpPr>
        <p:spPr>
          <a:xfrm>
            <a:off x="1466850" y="4130199"/>
            <a:ext cx="133604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github.com/</a:t>
            </a:r>
            <a:r>
              <a:rPr lang="en-US" sz="3000" dirty="0" err="1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sidihasnat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7C40830-9C50-A1EC-B7FB-C93DCEC18731}"/>
              </a:ext>
            </a:extLst>
          </p:cNvPr>
          <p:cNvSpPr/>
          <p:nvPr/>
        </p:nvSpPr>
        <p:spPr>
          <a:xfrm>
            <a:off x="1066800" y="5268119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5EBF354-6711-F6B1-727E-C65C879BF324}"/>
              </a:ext>
            </a:extLst>
          </p:cNvPr>
          <p:cNvSpPr/>
          <p:nvPr/>
        </p:nvSpPr>
        <p:spPr>
          <a:xfrm>
            <a:off x="1466850" y="4942999"/>
            <a:ext cx="942975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lvl="0">
              <a:lnSpc>
                <a:spcPct val="150000"/>
              </a:lnSpc>
            </a:pPr>
            <a:r>
              <a:rPr lang="en-GB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</a:t>
            </a:r>
            <a:r>
              <a:rPr lang="en-GB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huggingface.co/ton-username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E9CE5B6-848F-39B3-38C0-56D3ABFD9442}"/>
              </a:ext>
            </a:extLst>
          </p:cNvPr>
          <p:cNvSpPr/>
          <p:nvPr/>
        </p:nvSpPr>
        <p:spPr>
          <a:xfrm>
            <a:off x="1066800" y="6067741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B343BF4-0B13-297D-FD28-EA99F550010F}"/>
              </a:ext>
            </a:extLst>
          </p:cNvPr>
          <p:cNvSpPr/>
          <p:nvPr/>
        </p:nvSpPr>
        <p:spPr>
          <a:xfrm>
            <a:off x="1466850" y="5755798"/>
            <a:ext cx="1034415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30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Auto-formation</a:t>
            </a:r>
            <a:r>
              <a:rPr lang="en-US" sz="30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Coursera – Monitoring &amp; Observability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8438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" y="0"/>
            <a:ext cx="18288000" cy="10287000"/>
          </a:xfrm>
          <a:prstGeom prst="rect">
            <a:avLst/>
          </a:prstGeom>
          <a:solidFill>
            <a:srgbClr val="0029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027287" y="4001889"/>
            <a:ext cx="10233328" cy="886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7500" b="1" kern="0" spc="-6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7500" dirty="0"/>
          </a:p>
        </p:txBody>
      </p:sp>
      <p:sp>
        <p:nvSpPr>
          <p:cNvPr id="6" name="Text 4"/>
          <p:cNvSpPr/>
          <p:nvPr/>
        </p:nvSpPr>
        <p:spPr>
          <a:xfrm>
            <a:off x="7966274" y="6180733"/>
            <a:ext cx="2355354" cy="501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2909" y="9166225"/>
            <a:ext cx="1246882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622291" y="9166225"/>
            <a:ext cx="1978521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589</Words>
  <Application>Microsoft Office PowerPoint</Application>
  <PresentationFormat>Custom</PresentationFormat>
  <Paragraphs>135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Codec Pro</vt:lpstr>
      <vt:lpstr>Codec Pro 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HASNAT AHMED EL HANOUN</cp:lastModifiedBy>
  <cp:revision>10</cp:revision>
  <dcterms:created xsi:type="dcterms:W3CDTF">2026-06-03T12:39:16Z</dcterms:created>
  <dcterms:modified xsi:type="dcterms:W3CDTF">2026-07-06T22:05:24Z</dcterms:modified>
</cp:coreProperties>
</file>